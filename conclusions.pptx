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3716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</a:rPr>
              <a:t>8-week-ahead </a:t>
            </a:r>
            <a:r>
              <a:rPr lang="en-IN" sz="2200" b="1" dirty="0">
                <a:solidFill>
                  <a:srgbClr val="FFFFFF"/>
                </a:solidFill>
              </a:rPr>
              <a:t>D</a:t>
            </a:r>
            <a:r>
              <a:rPr sz="2200" b="1" dirty="0" err="1">
                <a:solidFill>
                  <a:srgbClr val="FFFFFF"/>
                </a:solidFill>
              </a:rPr>
              <a:t>emand</a:t>
            </a:r>
            <a:r>
              <a:rPr sz="2200" b="1" dirty="0">
                <a:solidFill>
                  <a:srgbClr val="FFFFFF"/>
                </a:solidFill>
              </a:rPr>
              <a:t> </a:t>
            </a:r>
            <a:r>
              <a:rPr lang="en-IN" sz="2200" b="1" dirty="0">
                <a:solidFill>
                  <a:srgbClr val="FFFFFF"/>
                </a:solidFill>
              </a:rPr>
              <a:t>F</a:t>
            </a:r>
            <a:r>
              <a:rPr sz="2200" b="1" dirty="0" err="1">
                <a:solidFill>
                  <a:srgbClr val="FFFFFF"/>
                </a:solidFill>
              </a:rPr>
              <a:t>orecast</a:t>
            </a:r>
            <a:r>
              <a:rPr sz="2200" b="1" dirty="0">
                <a:solidFill>
                  <a:srgbClr val="FFFFFF"/>
                </a:solidFill>
              </a:rPr>
              <a:t> for the Demand Planning </a:t>
            </a:r>
            <a:r>
              <a:rPr lang="en-IN" sz="2200" b="1" dirty="0">
                <a:solidFill>
                  <a:srgbClr val="FFFFFF"/>
                </a:solidFill>
              </a:rPr>
              <a:t>T</a:t>
            </a:r>
            <a:r>
              <a:rPr sz="2200" b="1" dirty="0" err="1">
                <a:solidFill>
                  <a:srgbClr val="FFFFFF"/>
                </a:solidFill>
              </a:rPr>
              <a:t>eam</a:t>
            </a:r>
            <a:endParaRPr sz="2200" b="1" dirty="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55813" y="804672"/>
            <a:ext cx="1238012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1" dirty="0"/>
              <a:t>Target week: </a:t>
            </a:r>
            <a:r>
              <a:rPr sz="1200" i="1" dirty="0">
                <a:solidFill>
                  <a:srgbClr val="222222"/>
                </a:solidFill>
              </a:rPr>
              <a:t>2022-02-20  ·</a:t>
            </a:r>
            <a:r>
              <a:rPr lang="en-IN" sz="1200" i="1" dirty="0">
                <a:solidFill>
                  <a:srgbClr val="222222"/>
                </a:solidFill>
              </a:rPr>
              <a:t> </a:t>
            </a:r>
            <a:r>
              <a:rPr lang="en-IN" sz="1200" b="1" i="1" dirty="0">
                <a:solidFill>
                  <a:srgbClr val="222222"/>
                </a:solidFill>
              </a:rPr>
              <a:t>Model: </a:t>
            </a:r>
            <a:r>
              <a:rPr lang="en-IN" sz="1200" i="1" dirty="0">
                <a:solidFill>
                  <a:srgbClr val="222222"/>
                </a:solidFill>
              </a:rPr>
              <a:t>SARIMAX</a:t>
            </a:r>
            <a:r>
              <a:rPr sz="1200" i="1" dirty="0">
                <a:solidFill>
                  <a:srgbClr val="222222"/>
                </a:solidFill>
              </a:rPr>
              <a:t> </a:t>
            </a:r>
            <a:r>
              <a:rPr lang="en-IN" sz="1200" i="1" dirty="0">
                <a:solidFill>
                  <a:srgbClr val="222222"/>
                </a:solidFill>
              </a:rPr>
              <a:t>· </a:t>
            </a:r>
            <a:r>
              <a:rPr sz="1200" b="1" i="1" dirty="0">
                <a:solidFill>
                  <a:srgbClr val="222222"/>
                </a:solidFill>
              </a:rPr>
              <a:t>MAPE</a:t>
            </a:r>
            <a:r>
              <a:rPr lang="en-IN" sz="1200" b="1" i="1" dirty="0">
                <a:solidFill>
                  <a:srgbClr val="222222"/>
                </a:solidFill>
              </a:rPr>
              <a:t>(test data)</a:t>
            </a:r>
            <a:r>
              <a:rPr sz="1200" b="1" i="1" dirty="0">
                <a:solidFill>
                  <a:srgbClr val="222222"/>
                </a:solidFill>
              </a:rPr>
              <a:t>: </a:t>
            </a:r>
            <a:r>
              <a:rPr sz="1200" i="1" dirty="0">
                <a:solidFill>
                  <a:srgbClr val="222222"/>
                </a:solidFill>
              </a:rPr>
              <a:t>2.92%</a:t>
            </a:r>
            <a:r>
              <a:rPr lang="en-IN" sz="1200" i="1" dirty="0">
                <a:solidFill>
                  <a:srgbClr val="222222"/>
                </a:solidFill>
              </a:rPr>
              <a:t> · </a:t>
            </a:r>
            <a:r>
              <a:rPr lang="en-IN" sz="1200" b="1" i="1" dirty="0">
                <a:solidFill>
                  <a:srgbClr val="222222"/>
                </a:solidFill>
              </a:rPr>
              <a:t>MAE(test data): </a:t>
            </a:r>
            <a:r>
              <a:rPr lang="en-IN" sz="1200" i="1" dirty="0">
                <a:solidFill>
                  <a:srgbClr val="222222"/>
                </a:solidFill>
              </a:rPr>
              <a:t>~19 units/week · </a:t>
            </a:r>
            <a:r>
              <a:rPr lang="en-IN" sz="1200" b="1" i="1" dirty="0">
                <a:solidFill>
                  <a:srgbClr val="222222"/>
                </a:solidFill>
              </a:rPr>
              <a:t>Training </a:t>
            </a:r>
            <a:r>
              <a:rPr lang="en-IN" sz="1200" b="1" i="1" dirty="0" err="1">
                <a:solidFill>
                  <a:srgbClr val="222222"/>
                </a:solidFill>
              </a:rPr>
              <a:t>wk</a:t>
            </a:r>
            <a:r>
              <a:rPr lang="en-IN" sz="1200" b="1" i="1" dirty="0">
                <a:solidFill>
                  <a:srgbClr val="222222"/>
                </a:solidFill>
              </a:rPr>
              <a:t> range: </a:t>
            </a:r>
            <a:r>
              <a:rPr lang="en-IN" sz="1200" i="1" dirty="0">
                <a:solidFill>
                  <a:srgbClr val="222222"/>
                </a:solidFill>
              </a:rPr>
              <a:t>2019-01-03 -&gt; 2021-06-27 · </a:t>
            </a:r>
            <a:r>
              <a:rPr lang="en-IN" sz="1200" b="1" i="1" dirty="0">
                <a:solidFill>
                  <a:srgbClr val="222222"/>
                </a:solidFill>
              </a:rPr>
              <a:t>Test </a:t>
            </a:r>
            <a:r>
              <a:rPr lang="en-IN" sz="1200" b="1" i="1" dirty="0" err="1">
                <a:solidFill>
                  <a:srgbClr val="222222"/>
                </a:solidFill>
              </a:rPr>
              <a:t>wk</a:t>
            </a:r>
            <a:r>
              <a:rPr lang="en-IN" sz="1200" b="1" i="1" dirty="0">
                <a:solidFill>
                  <a:srgbClr val="222222"/>
                </a:solidFill>
              </a:rPr>
              <a:t> range: </a:t>
            </a:r>
            <a:r>
              <a:rPr lang="en-IN" sz="1200" i="1" dirty="0">
                <a:solidFill>
                  <a:srgbClr val="222222"/>
                </a:solidFill>
              </a:rPr>
              <a:t>2021-07-04 -&gt; 2021-12-26 </a:t>
            </a:r>
            <a:endParaRPr sz="1200" i="1" dirty="0">
              <a:solidFill>
                <a:srgbClr val="222222"/>
              </a:solidFill>
            </a:endParaRPr>
          </a:p>
        </p:txBody>
      </p:sp>
      <p:pic>
        <p:nvPicPr>
          <p:cNvPr id="4" name="Picture 3" descr="_forecast_vs_actual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12449"/>
            <a:ext cx="7040880" cy="42919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5330067"/>
            <a:ext cx="7040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00" b="0" i="1" dirty="0">
                <a:solidFill>
                  <a:srgbClr val="222222"/>
                </a:solidFill>
              </a:rPr>
              <a:t>Training vs Test: </a:t>
            </a:r>
            <a:r>
              <a:rPr sz="1000" b="0" i="1" dirty="0">
                <a:solidFill>
                  <a:srgbClr val="222222"/>
                </a:solidFill>
              </a:rPr>
              <a:t>SARIMAX (blue) tracks actual demand (black) across all 9 series.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79" y="1325880"/>
          <a:ext cx="44805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SKU</a:t>
                      </a:r>
                    </a:p>
                  </a:txBody>
                  <a:tcPr>
                    <a:solidFill>
                      <a:srgbClr val="006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Supermarket</a:t>
                      </a:r>
                    </a:p>
                  </a:txBody>
                  <a:tcPr>
                    <a:solidFill>
                      <a:srgbClr val="006E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Predicted (2022-02-20)</a:t>
                      </a:r>
                    </a:p>
                  </a:txBody>
                  <a:tcPr>
                    <a:solidFill>
                      <a:srgbClr val="006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desperados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albert-heijn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</a:rPr>
                        <a:t>691  (620–761)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desperados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dirk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</a:rPr>
                        <a:t>361  (329–393)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desperados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jumbo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</a:rPr>
                        <a:t>749  (657–840)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heineken 0.0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albert-heijn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</a:rPr>
                        <a:t>396  (372–420)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heineken 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dirk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</a:rPr>
                        <a:t>687  (633–742)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dirty="0" err="1">
                          <a:solidFill>
                            <a:srgbClr val="222222"/>
                          </a:solidFill>
                        </a:rPr>
                        <a:t>heineken</a:t>
                      </a:r>
                      <a:r>
                        <a:rPr sz="1000" dirty="0">
                          <a:solidFill>
                            <a:srgbClr val="222222"/>
                          </a:solidFill>
                        </a:rPr>
                        <a:t> 0.0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dirty="0">
                          <a:solidFill>
                            <a:srgbClr val="222222"/>
                          </a:solidFill>
                        </a:rPr>
                        <a:t>jumbo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</a:rPr>
                        <a:t>414  (388–439)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heineken 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albert-heijn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</a:rPr>
                        <a:t>432  (382–482)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heineken regular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dirk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</a:rPr>
                        <a:t>509  (465–553)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heineken 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</a:rPr>
                        <a:t>jumbo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222222"/>
                          </a:solidFill>
                        </a:rPr>
                        <a:t>517  (450–583)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45476" y="4517045"/>
            <a:ext cx="45857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222222"/>
                </a:solidFill>
              </a:rPr>
              <a:t>Predicted weekly units with </a:t>
            </a:r>
            <a:r>
              <a:rPr sz="1100" b="1" i="1" dirty="0">
                <a:solidFill>
                  <a:srgbClr val="222222"/>
                </a:solidFill>
              </a:rPr>
              <a:t>80%</a:t>
            </a:r>
            <a:r>
              <a:rPr sz="1100" b="0" i="1" dirty="0">
                <a:solidFill>
                  <a:srgbClr val="222222"/>
                </a:solidFill>
              </a:rPr>
              <a:t> interval. Assumes no promotions in the window.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536959"/>
            <a:ext cx="7040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06E33"/>
                </a:solidFill>
              </a:rPr>
              <a:t>Key findings</a:t>
            </a:r>
            <a:r>
              <a:rPr lang="en-IN" sz="1300" b="1" i="0" dirty="0">
                <a:solidFill>
                  <a:srgbClr val="006E33"/>
                </a:solidFill>
              </a:rPr>
              <a:t>:</a:t>
            </a:r>
            <a:endParaRPr sz="1300" b="1" i="0" dirty="0">
              <a:solidFill>
                <a:srgbClr val="006E33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4320" y="5806440"/>
            <a:ext cx="7040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222222"/>
                </a:solidFill>
              </a:rPr>
              <a:t>•  Demand is mostly stable (week-to-week CV of </a:t>
            </a:r>
            <a:r>
              <a:rPr sz="1100" b="1" dirty="0">
                <a:solidFill>
                  <a:srgbClr val="222222"/>
                </a:solidFill>
              </a:rPr>
              <a:t>6–11%</a:t>
            </a:r>
            <a:r>
              <a:rPr sz="1100" dirty="0">
                <a:solidFill>
                  <a:srgbClr val="222222"/>
                </a:solidFill>
              </a:rPr>
              <a:t>) with mild year-on-year growth of </a:t>
            </a:r>
            <a:r>
              <a:rPr sz="1100" b="1" dirty="0">
                <a:solidFill>
                  <a:srgbClr val="222222"/>
                </a:solidFill>
              </a:rPr>
              <a:t>1–6%</a:t>
            </a:r>
            <a:r>
              <a:rPr sz="1100" dirty="0">
                <a:solidFill>
                  <a:srgbClr val="222222"/>
                </a:solidFill>
              </a:rPr>
              <a:t>.</a:t>
            </a:r>
            <a:r>
              <a:rPr lang="en-IN" sz="1100" dirty="0">
                <a:solidFill>
                  <a:srgbClr val="222222"/>
                </a:solidFill>
              </a:rPr>
              <a:t> (CV = std/mean)</a:t>
            </a:r>
            <a:endParaRPr sz="1100" dirty="0">
              <a:solidFill>
                <a:srgbClr val="222222"/>
              </a:solidFill>
            </a:endParaRPr>
          </a:p>
          <a:p>
            <a:r>
              <a:rPr sz="1100" dirty="0">
                <a:solidFill>
                  <a:srgbClr val="222222"/>
                </a:solidFill>
              </a:rPr>
              <a:t>•  </a:t>
            </a:r>
            <a:r>
              <a:rPr sz="1100" b="1" dirty="0">
                <a:solidFill>
                  <a:srgbClr val="222222"/>
                </a:solidFill>
              </a:rPr>
              <a:t>Promotions</a:t>
            </a:r>
            <a:r>
              <a:rPr sz="1100" dirty="0">
                <a:solidFill>
                  <a:srgbClr val="222222"/>
                </a:solidFill>
              </a:rPr>
              <a:t> are the biggest single demand mover, lifting weekly demand </a:t>
            </a:r>
            <a:r>
              <a:rPr sz="1100" b="1" dirty="0">
                <a:solidFill>
                  <a:srgbClr val="222222"/>
                </a:solidFill>
              </a:rPr>
              <a:t>by 5–11% </a:t>
            </a:r>
            <a:r>
              <a:rPr sz="1100" dirty="0">
                <a:solidFill>
                  <a:srgbClr val="222222"/>
                </a:solidFill>
              </a:rPr>
              <a:t>on the 7 of 9 pairs that run them.</a:t>
            </a:r>
          </a:p>
          <a:p>
            <a:r>
              <a:rPr sz="1100" dirty="0">
                <a:solidFill>
                  <a:srgbClr val="222222"/>
                </a:solidFill>
              </a:rPr>
              <a:t>•  </a:t>
            </a:r>
            <a:r>
              <a:rPr sz="1100" b="1" dirty="0">
                <a:solidFill>
                  <a:srgbClr val="222222"/>
                </a:solidFill>
              </a:rPr>
              <a:t>Yearly seasonality </a:t>
            </a:r>
            <a:r>
              <a:rPr sz="1100" dirty="0">
                <a:solidFill>
                  <a:srgbClr val="222222"/>
                </a:solidFill>
              </a:rPr>
              <a:t>is </a:t>
            </a:r>
            <a:r>
              <a:rPr lang="en-IN" sz="1100" dirty="0">
                <a:solidFill>
                  <a:srgbClr val="222222"/>
                </a:solidFill>
              </a:rPr>
              <a:t>present</a:t>
            </a:r>
            <a:r>
              <a:rPr sz="1100" dirty="0">
                <a:solidFill>
                  <a:srgbClr val="222222"/>
                </a:solidFill>
              </a:rPr>
              <a:t> but modest </a:t>
            </a:r>
            <a:r>
              <a:rPr lang="en-IN" sz="1100" dirty="0">
                <a:solidFill>
                  <a:srgbClr val="222222"/>
                </a:solidFill>
              </a:rPr>
              <a:t>-</a:t>
            </a:r>
            <a:r>
              <a:rPr sz="1100" dirty="0">
                <a:solidFill>
                  <a:srgbClr val="222222"/>
                </a:solidFill>
              </a:rPr>
              <a:t> only the desperados family shows a noticeable summer rise.</a:t>
            </a:r>
          </a:p>
          <a:p>
            <a:r>
              <a:rPr sz="1100" dirty="0">
                <a:solidFill>
                  <a:srgbClr val="222222"/>
                </a:solidFill>
              </a:rPr>
              <a:t>•  Model: </a:t>
            </a:r>
            <a:r>
              <a:rPr sz="1100" b="1" dirty="0">
                <a:solidFill>
                  <a:srgbClr val="222222"/>
                </a:solidFill>
              </a:rPr>
              <a:t>SARIMAX (1, 1, 1) </a:t>
            </a:r>
            <a:r>
              <a:rPr sz="1100" dirty="0">
                <a:solidFill>
                  <a:srgbClr val="222222"/>
                </a:solidFill>
              </a:rPr>
              <a:t>with Fourier annual seasonality + promotion calendar as forward inputs.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37120" y="5052997"/>
            <a:ext cx="4480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06E33"/>
                </a:solidFill>
              </a:rPr>
              <a:t>Recommendation</a:t>
            </a:r>
            <a:r>
              <a:rPr lang="en-IN" sz="1300" b="1" i="0" dirty="0">
                <a:solidFill>
                  <a:srgbClr val="006E33"/>
                </a:solidFill>
              </a:rPr>
              <a:t>:</a:t>
            </a:r>
            <a:endParaRPr sz="1300" b="1" i="0" dirty="0">
              <a:solidFill>
                <a:srgbClr val="006E33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37120" y="5342329"/>
            <a:ext cx="44805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22222"/>
                </a:solidFill>
              </a:rPr>
              <a:t>On the</a:t>
            </a:r>
            <a:r>
              <a:rPr lang="en-IN" sz="1200" dirty="0">
                <a:solidFill>
                  <a:srgbClr val="222222"/>
                </a:solidFill>
              </a:rPr>
              <a:t> test data, </a:t>
            </a:r>
            <a:r>
              <a:rPr sz="1200" b="0" i="0" dirty="0">
                <a:solidFill>
                  <a:srgbClr val="222222"/>
                </a:solidFill>
              </a:rPr>
              <a:t>the model is within ±2.9% of actual demand on a typical week (MAE </a:t>
            </a:r>
            <a:r>
              <a:rPr lang="en-IN" sz="1200" dirty="0">
                <a:solidFill>
                  <a:srgbClr val="222222"/>
                </a:solidFill>
              </a:rPr>
              <a:t>~19</a:t>
            </a:r>
            <a:r>
              <a:rPr sz="1200" b="0" i="0" dirty="0">
                <a:solidFill>
                  <a:srgbClr val="222222"/>
                </a:solidFill>
              </a:rPr>
              <a:t> units/week) </a:t>
            </a:r>
            <a:r>
              <a:rPr lang="en-IN" sz="1200" b="0" i="0" dirty="0">
                <a:solidFill>
                  <a:srgbClr val="222222"/>
                </a:solidFill>
              </a:rPr>
              <a:t>-</a:t>
            </a:r>
            <a:r>
              <a:rPr sz="1200" b="0" i="0" dirty="0">
                <a:solidFill>
                  <a:srgbClr val="222222"/>
                </a:solidFill>
              </a:rPr>
              <a:t> tight enough to drive weekly orders directly.
Have marketing publish the 8-week promo schedule so the model can add promo lift onto each future week instead of treating them all as non-promo.</a:t>
            </a:r>
          </a:p>
        </p:txBody>
      </p:sp>
      <p:pic>
        <p:nvPicPr>
          <p:cNvPr id="15" name="Picture 14" descr="Heineken Logo - PNG and Vector - Logo Download">
            <a:extLst>
              <a:ext uri="{FF2B5EF4-FFF2-40B4-BE49-F238E27FC236}">
                <a16:creationId xmlns:a16="http://schemas.microsoft.com/office/drawing/2014/main" id="{DE6A81FA-9B7F-10B3-B63E-7F56016CB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45292" cy="777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314</Words>
  <Application>Microsoft Office PowerPoint</Application>
  <PresentationFormat>Widescreen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Aman Gupta</cp:lastModifiedBy>
  <cp:revision>3</cp:revision>
  <dcterms:created xsi:type="dcterms:W3CDTF">2013-01-27T09:14:16Z</dcterms:created>
  <dcterms:modified xsi:type="dcterms:W3CDTF">2026-05-24T17:35:33Z</dcterms:modified>
  <cp:category/>
</cp:coreProperties>
</file>